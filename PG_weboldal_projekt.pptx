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26602ef7-1343-41a7-3e71-e3a558b51ced}">
          <p14:sldIdLst>
            <p14:sldId id="256"/>
            <p14:sldId id="257"/>
            <p14:sldId id="258"/>
            <p14:sldId id="259"/>
          </p14:sldIdLst>
        </p14:section>
        <p14:section name="Főoldal és kód" id="{f9b0fb19-346b-0f80-087b-5eae2fb931e7}">
          <p14:sldIdLst>
            <p14:sldId id="260"/>
            <p14:sldId id="261"/>
            <p14:sldId id="262"/>
            <p14:sldId id="263"/>
            <p14:sldId id="264"/>
          </p14:sldIdLst>
        </p14:section>
        <p14:section name="További oldalak" id="{15a26d56-c279-f9fa-c1ae-565c5533b49b}">
          <p14:sldIdLst>
            <p14:sldId id="265"/>
            <p14:sldId id="266"/>
            <p14:sldId id="267"/>
            <p14:sldId id="268"/>
          </p14:sldIdLst>
        </p14:section>
        <p14:section name="Zárás" id="{c360a218-4989-a6e8-d315-56cc75c919b5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Üdvözlünk mindenkit! A Kiskunfélegyházi Szent Benedek PG weboldalát mutatjuk be, amit projektként készítettünk. Megnézzük, hogyan néz ki az oldal, és hogyan épül fel a kódja.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oldal célja, hogy a leendő diákok és szüleik egy helyen megtalálják a képzéseket, a jelentkezés menetét és az iskola életét. 12 HTML oldalból és 7 CSS fájlból áll, külső keretrendszer nélkül, minden kódot mi írtunk.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főoldalról a fejlécből minden fontos oldal elérhető. A beiskolázás oldal öt szakmaoldalra vezet, az Erasmus+ menüpont a 2022-es és 2024-es beszámolóra. A történet a főoldal egyik szekciója.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alap webes nyelvet használtunk: HTML a szerkezethez, CSS a megjelenéshez, JavaScript a működéshez. Az oldal GitHubon van, és GitHub Pages szolgálja ki. Nem használtunk Bootstrapet vagy más keretrendszert.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főoldal három részből áll: a lebegő fejlécből, a nagy kezdőképből és a három kártyából. A színek a címer és az épület hangulatához igazodnak: sötétkék és arany.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fejléc és a menü HTML-je. A nav elemben egy lista van a menüpontokkal, mellette a Jelentkezés gomb. Ugyanez a fejléc minden oldalon szerepel.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színeket CSS változókban tároljuk a fájl elején, így az egész oldal arculata egy helyen módosítható. A fejléc fixen a képernyő tetején áll, kicsit átlátszó és elmosott háttérrel, lekerekítve.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három kártya CSS grid-ben van. Az auto-fit és a minmax miatt a kártyák szélesebb képernyőn egymás mellett, keskenyebben egymás alatt jelennek meg. A kép a kártya hátterét kitölti, és egérrel fölé víve picit nagyobbra nő.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oldal telefonon is használható. A media query 768 pixel alatt átrendezi a fejlécet: a menü külön sorba kerül, és oldalra húzható, ha nem fér 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beiskolázás oldalról öt szakmaoldal nyílik: gépészet magyarul, magyar-német és magyar-angol gépészet, informatika és távközlés magyarul, valamint magyar-angol informatika. Mind ugyanazt a CSS fájlt használja.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munkatársak oldalon fényképes kártyák vannak csoportonként. Az Erasmus oldalak beszámolók képgalériával. A történet rész a főoldalon található.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eredmények oldalon a 80 kép HTML-jét nem kézzel írtuk meg, hanem egy ciklus generálja. A képekhez tartozó leírások egy JSON fájlban vannak, és a kép fölé víve töltődnek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jelentkezési űrlap kötelező mezőkkel, legördülő tanulmányi területtel és kollégium jelölőnégyzettel készült. A beküldésnél JavaScript összeállítja a levelet, és megnyitja a levelezőprogramot az iskola titkárságának címével.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Összegzésként: az oldal egységes arculatú, mobilon is használható és külső függőségek nélkül működik. A továbbfejlesztési ötleteink: a közös fejléc és lábléc kiszervezése, a galéria egyszerűbb megoldása és az űrlap szerveroldali kezelése.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Köszönjük a figyelmet! Kérdésekre szívesen válaszolunk.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3840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Szent Benedek PG weboldal</a:t>
            </a:r>
            <a:endParaRPr lang="en-US" sz="3600" dirty="0"/>
          </a:p>
        </p:txBody>
      </p:sp>
      <p:sp>
        <p:nvSpPr>
          <p:cNvPr id="3" name="Alcím"/>
          <p:cNvSpPr txBox="1"/>
          <p:nvPr/>
        </p:nvSpPr>
        <p:spPr>
          <a:xfrm>
            <a:off x="54864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Iskolai projekt: az oldal képekkel és kóddal</a:t>
            </a:r>
            <a:endParaRPr lang="en-US" sz="1800" dirty="0"/>
          </a:p>
        </p:txBody>
      </p:sp>
      <p:sp>
        <p:nvSpPr>
          <p:cNvPr id="4" name="Technológiák"/>
          <p:cNvSpPr txBox="1"/>
          <p:nvPr/>
        </p:nvSpPr>
        <p:spPr>
          <a:xfrm>
            <a:off x="54864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HTML · CSS · JavaScript</a:t>
            </a:r>
            <a:endParaRPr lang="en-US" sz="1400" dirty="0"/>
          </a:p>
        </p:txBody>
      </p:sp>
      <p:sp>
        <p:nvSpPr>
          <p:cNvPr id="5" name="Főoldal keret"/>
          <p:cNvSpPr/>
          <p:nvPr/>
        </p:nvSpPr>
        <p:spPr>
          <a:xfrm>
            <a:off x="4572000" y="1097280"/>
            <a:ext cx="3566160" cy="2035969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6" name="Főoldal pont 1"/>
          <p:cNvSpPr/>
          <p:nvPr/>
        </p:nvSpPr>
        <p:spPr>
          <a:xfrm>
            <a:off x="4681728" y="116586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Főoldal pont 2"/>
          <p:cNvSpPr/>
          <p:nvPr/>
        </p:nvSpPr>
        <p:spPr>
          <a:xfrm>
            <a:off x="4809744" y="116586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Főoldal pont 3"/>
          <p:cNvSpPr/>
          <p:nvPr/>
        </p:nvSpPr>
        <p:spPr>
          <a:xfrm>
            <a:off x="4937760" y="116586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Főoldal képernyőkép" descr="Főol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16736"/>
            <a:ext cx="3566160" cy="1816513"/>
          </a:xfrm>
          <a:prstGeom prst="rect">
            <a:avLst/>
          </a:prstGeom>
        </p:spPr>
      </p:pic>
      <p:sp>
        <p:nvSpPr>
          <p:cNvPr id="10" name="Főoldal mobilon keret"/>
          <p:cNvSpPr/>
          <p:nvPr/>
        </p:nvSpPr>
        <p:spPr>
          <a:xfrm>
            <a:off x="7452360" y="1828800"/>
            <a:ext cx="1453896" cy="2779776"/>
          </a:xfrm>
          <a:prstGeom prst="roundRect">
            <a:avLst>
              <a:gd name="adj" fmla="val 10063"/>
            </a:avLst>
          </a:prstGeom>
          <a:solidFill>
            <a:srgbClr val="0B1426"/>
          </a:solidFill>
          <a:ln w="12700">
            <a:solidFill>
              <a:srgbClr val="C5A05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11" name="Főoldal mobilon képernyőkép" descr="Főoldal mobil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892808"/>
            <a:ext cx="132588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 projekt célja</a:t>
            </a:r>
            <a:endParaRPr lang="en-US" sz="3000" dirty="0"/>
          </a:p>
        </p:txBody>
      </p:sp>
      <p:sp>
        <p:nvSpPr>
          <p:cNvPr id="3" name="Cél Cél kör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Cél Cél ikon" descr="Cél Cé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60170"/>
            <a:ext cx="251460" cy="251460"/>
          </a:xfrm>
          <a:prstGeom prst="rect">
            <a:avLst/>
          </a:prstGeom>
        </p:spPr>
      </p:pic>
      <p:sp>
        <p:nvSpPr>
          <p:cNvPr id="5" name="Cél cím Cél"/>
          <p:cNvSpPr txBox="1"/>
          <p:nvPr/>
        </p:nvSpPr>
        <p:spPr>
          <a:xfrm>
            <a:off x="11430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Cél</a:t>
            </a:r>
            <a:endParaRPr lang="en-US" sz="1800" dirty="0"/>
          </a:p>
        </p:txBody>
      </p:sp>
      <p:sp>
        <p:nvSpPr>
          <p:cNvPr id="6" name="Cél leírás Cél"/>
          <p:cNvSpPr txBox="1"/>
          <p:nvPr/>
        </p:nvSpPr>
        <p:spPr>
          <a:xfrm>
            <a:off x="114300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iskola bemutatása és a beiskolázás segítése egy helyen.</a:t>
            </a:r>
            <a:endParaRPr lang="en-US" sz="1400" dirty="0"/>
          </a:p>
        </p:txBody>
      </p:sp>
      <p:sp>
        <p:nvSpPr>
          <p:cNvPr id="7" name="Cél Kinek készült kör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8" name="Cél Kinek készült ikon" descr="Cél Kinek készü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503170"/>
            <a:ext cx="251460" cy="251460"/>
          </a:xfrm>
          <a:prstGeom prst="rect">
            <a:avLst/>
          </a:prstGeom>
        </p:spPr>
      </p:pic>
      <p:sp>
        <p:nvSpPr>
          <p:cNvPr id="9" name="Cél cím Kinek készült"/>
          <p:cNvSpPr txBox="1"/>
          <p:nvPr/>
        </p:nvSpPr>
        <p:spPr>
          <a:xfrm>
            <a:off x="114300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Kinek készült</a:t>
            </a:r>
            <a:endParaRPr lang="en-US" sz="1800" dirty="0"/>
          </a:p>
        </p:txBody>
      </p:sp>
      <p:sp>
        <p:nvSpPr>
          <p:cNvPr id="10" name="Cél leírás Kinek készült"/>
          <p:cNvSpPr txBox="1"/>
          <p:nvPr/>
        </p:nvSpPr>
        <p:spPr>
          <a:xfrm>
            <a:off x="114300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Leendő diákoknak és szüleiknek, akik a képzések és a jelentkezés után érdeklődnek.</a:t>
            </a:r>
            <a:endParaRPr lang="en-US" sz="1400" dirty="0"/>
          </a:p>
        </p:txBody>
      </p:sp>
      <p:sp>
        <p:nvSpPr>
          <p:cNvPr id="11" name="Cél Mit tud kör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2" name="Cél Mit tud ikon" descr="Cél Mit t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646170"/>
            <a:ext cx="251460" cy="251460"/>
          </a:xfrm>
          <a:prstGeom prst="rect">
            <a:avLst/>
          </a:prstGeom>
        </p:spPr>
      </p:pic>
      <p:sp>
        <p:nvSpPr>
          <p:cNvPr id="13" name="Cél cím Mit tud"/>
          <p:cNvSpPr txBox="1"/>
          <p:nvPr/>
        </p:nvSpPr>
        <p:spPr>
          <a:xfrm>
            <a:off x="11430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Mit tud</a:t>
            </a:r>
            <a:endParaRPr lang="en-US" sz="1800" dirty="0"/>
          </a:p>
        </p:txBody>
      </p:sp>
      <p:sp>
        <p:nvSpPr>
          <p:cNvPr id="14" name="Cél leírás Mit tud"/>
          <p:cNvSpPr txBox="1"/>
          <p:nvPr/>
        </p:nvSpPr>
        <p:spPr>
          <a:xfrm>
            <a:off x="114300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Képzések, jelentkezési űrlap, Erasmus+ beszámolók, eredmények, munkatársak.</a:t>
            </a:r>
            <a:endParaRPr lang="en-US" sz="1400" dirty="0"/>
          </a:p>
        </p:txBody>
      </p:sp>
      <p:sp>
        <p:nvSpPr>
          <p:cNvPr id="15" name="Szám kártya HTML oldal"/>
          <p:cNvSpPr/>
          <p:nvPr/>
        </p:nvSpPr>
        <p:spPr>
          <a:xfrm>
            <a:off x="5120640" y="1188720"/>
            <a:ext cx="17373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6" name="Szám HTML oldal"/>
          <p:cNvSpPr txBox="1"/>
          <p:nvPr/>
        </p:nvSpPr>
        <p:spPr>
          <a:xfrm>
            <a:off x="5303520" y="1371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12</a:t>
            </a:r>
            <a:endParaRPr lang="en-US" sz="3400" dirty="0"/>
          </a:p>
        </p:txBody>
      </p:sp>
      <p:sp>
        <p:nvSpPr>
          <p:cNvPr id="17" name="Szám felirat HTML oldal"/>
          <p:cNvSpPr txBox="1"/>
          <p:nvPr/>
        </p:nvSpPr>
        <p:spPr>
          <a:xfrm>
            <a:off x="530352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HTML oldal</a:t>
            </a:r>
            <a:endParaRPr lang="en-US" sz="1400" dirty="0"/>
          </a:p>
        </p:txBody>
      </p:sp>
      <p:sp>
        <p:nvSpPr>
          <p:cNvPr id="18" name="Szám kártya CSS fájl"/>
          <p:cNvSpPr/>
          <p:nvPr/>
        </p:nvSpPr>
        <p:spPr>
          <a:xfrm>
            <a:off x="6949440" y="1188720"/>
            <a:ext cx="17373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9" name="Szám CSS fájl"/>
          <p:cNvSpPr txBox="1"/>
          <p:nvPr/>
        </p:nvSpPr>
        <p:spPr>
          <a:xfrm>
            <a:off x="7132320" y="1371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</a:t>
            </a:r>
            <a:endParaRPr lang="en-US" sz="3400" dirty="0"/>
          </a:p>
        </p:txBody>
      </p:sp>
      <p:sp>
        <p:nvSpPr>
          <p:cNvPr id="20" name="Szám felirat CSS fájl"/>
          <p:cNvSpPr txBox="1"/>
          <p:nvPr/>
        </p:nvSpPr>
        <p:spPr>
          <a:xfrm>
            <a:off x="713232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CSS fájl</a:t>
            </a:r>
            <a:endParaRPr lang="en-US" sz="1400" dirty="0"/>
          </a:p>
        </p:txBody>
      </p:sp>
      <p:sp>
        <p:nvSpPr>
          <p:cNvPr id="21" name="Szám kártya sor HTML és CSS kód"/>
          <p:cNvSpPr/>
          <p:nvPr/>
        </p:nvSpPr>
        <p:spPr>
          <a:xfrm>
            <a:off x="5120640" y="2788920"/>
            <a:ext cx="17373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22" name="Szám sor HTML és CSS kód"/>
          <p:cNvSpPr txBox="1"/>
          <p:nvPr/>
        </p:nvSpPr>
        <p:spPr>
          <a:xfrm>
            <a:off x="5303520" y="2971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5 500</a:t>
            </a:r>
            <a:endParaRPr lang="en-US" sz="3400" dirty="0"/>
          </a:p>
        </p:txBody>
      </p:sp>
      <p:sp>
        <p:nvSpPr>
          <p:cNvPr id="23" name="Szám felirat sor HTML és CSS kód"/>
          <p:cNvSpPr txBox="1"/>
          <p:nvPr/>
        </p:nvSpPr>
        <p:spPr>
          <a:xfrm>
            <a:off x="5303520" y="3657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sor HTML és CSS kód</a:t>
            </a:r>
            <a:endParaRPr lang="en-US" sz="1400" dirty="0"/>
          </a:p>
        </p:txBody>
      </p:sp>
      <p:sp>
        <p:nvSpPr>
          <p:cNvPr id="24" name="Szám kártya külső keretrendszer"/>
          <p:cNvSpPr/>
          <p:nvPr/>
        </p:nvSpPr>
        <p:spPr>
          <a:xfrm>
            <a:off x="6949440" y="2788920"/>
            <a:ext cx="17373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25" name="Szám külső keretrendszer"/>
          <p:cNvSpPr txBox="1"/>
          <p:nvPr/>
        </p:nvSpPr>
        <p:spPr>
          <a:xfrm>
            <a:off x="7132320" y="2971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</a:t>
            </a:r>
            <a:endParaRPr lang="en-US" sz="3400" dirty="0"/>
          </a:p>
        </p:txBody>
      </p:sp>
      <p:sp>
        <p:nvSpPr>
          <p:cNvPr id="26" name="Szám felirat külső keretrendszer"/>
          <p:cNvSpPr txBox="1"/>
          <p:nvPr/>
        </p:nvSpPr>
        <p:spPr>
          <a:xfrm>
            <a:off x="7132320" y="3657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külső keretrendszer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Az oldal felépítése</a:t>
            </a:r>
            <a:endParaRPr lang="en-US" sz="3000" dirty="0"/>
          </a:p>
        </p:txBody>
      </p:sp>
      <p:sp>
        <p:nvSpPr>
          <p:cNvPr id="3" name="Főoldal doboz"/>
          <p:cNvSpPr/>
          <p:nvPr/>
        </p:nvSpPr>
        <p:spPr>
          <a:xfrm>
            <a:off x="3200400" y="1143000"/>
            <a:ext cx="274320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/>
        </p:spPr>
      </p:sp>
      <p:sp>
        <p:nvSpPr>
          <p:cNvPr id="4" name="Főoldal felirat"/>
          <p:cNvSpPr txBox="1"/>
          <p:nvPr/>
        </p:nvSpPr>
        <p:spPr>
          <a:xfrm>
            <a:off x="3200400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Főoldal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index.html</a:t>
            </a:r>
            <a:endParaRPr lang="en-US" sz="1600" dirty="0"/>
          </a:p>
        </p:txBody>
      </p:sp>
      <p:sp>
        <p:nvSpPr>
          <p:cNvPr id="5" name="Vonal gyökér"/>
          <p:cNvSpPr/>
          <p:nvPr/>
        </p:nvSpPr>
        <p:spPr>
          <a:xfrm>
            <a:off x="4572000" y="1737360"/>
            <a:ext cx="0" cy="393192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6" name="Vonal vízszintes"/>
          <p:cNvSpPr/>
          <p:nvPr/>
        </p:nvSpPr>
        <p:spPr>
          <a:xfrm>
            <a:off x="1074420" y="2130552"/>
            <a:ext cx="6995160" cy="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7" name="Vonal Beiskolázás"/>
          <p:cNvSpPr/>
          <p:nvPr/>
        </p:nvSpPr>
        <p:spPr>
          <a:xfrm>
            <a:off x="1074420" y="2130552"/>
            <a:ext cx="0" cy="384048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8" name="Oldal Beiskolázás"/>
          <p:cNvSpPr/>
          <p:nvPr/>
        </p:nvSpPr>
        <p:spPr>
          <a:xfrm>
            <a:off x="457200" y="2514600"/>
            <a:ext cx="12344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Oldal felirat Beiskolázás"/>
          <p:cNvSpPr txBox="1"/>
          <p:nvPr/>
        </p:nvSpPr>
        <p:spPr>
          <a:xfrm>
            <a:off x="502920" y="25146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Beiskolázás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beiskolazas.html</a:t>
            </a:r>
            <a:endParaRPr lang="en-US" sz="1400" dirty="0"/>
          </a:p>
        </p:txBody>
      </p:sp>
      <p:sp>
        <p:nvSpPr>
          <p:cNvPr id="10" name="Vonal Munkatársak"/>
          <p:cNvSpPr/>
          <p:nvPr/>
        </p:nvSpPr>
        <p:spPr>
          <a:xfrm>
            <a:off x="2473452" y="2130552"/>
            <a:ext cx="0" cy="384048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11" name="Oldal Munkatársak"/>
          <p:cNvSpPr/>
          <p:nvPr/>
        </p:nvSpPr>
        <p:spPr>
          <a:xfrm>
            <a:off x="1856232" y="2514600"/>
            <a:ext cx="12344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2" name="Oldal felirat Munkatársak"/>
          <p:cNvSpPr txBox="1"/>
          <p:nvPr/>
        </p:nvSpPr>
        <p:spPr>
          <a:xfrm>
            <a:off x="1901952" y="25146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Munkatársak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munkatarsak.html</a:t>
            </a:r>
            <a:endParaRPr lang="en-US" sz="1400" dirty="0"/>
          </a:p>
        </p:txBody>
      </p:sp>
      <p:sp>
        <p:nvSpPr>
          <p:cNvPr id="13" name="Vonal Erasmus+"/>
          <p:cNvSpPr/>
          <p:nvPr/>
        </p:nvSpPr>
        <p:spPr>
          <a:xfrm>
            <a:off x="3872484" y="2130552"/>
            <a:ext cx="0" cy="384048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14" name="Oldal Erasmus+"/>
          <p:cNvSpPr/>
          <p:nvPr/>
        </p:nvSpPr>
        <p:spPr>
          <a:xfrm>
            <a:off x="3255264" y="2514600"/>
            <a:ext cx="12344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5" name="Oldal felirat Erasmus+"/>
          <p:cNvSpPr txBox="1"/>
          <p:nvPr/>
        </p:nvSpPr>
        <p:spPr>
          <a:xfrm>
            <a:off x="3300984" y="25146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Erasmus+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2022 és 2024</a:t>
            </a:r>
            <a:endParaRPr lang="en-US" sz="1400" dirty="0"/>
          </a:p>
        </p:txBody>
      </p:sp>
      <p:sp>
        <p:nvSpPr>
          <p:cNvPr id="16" name="Vonal Eredmények"/>
          <p:cNvSpPr/>
          <p:nvPr/>
        </p:nvSpPr>
        <p:spPr>
          <a:xfrm>
            <a:off x="5271516" y="2130552"/>
            <a:ext cx="0" cy="384048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17" name="Oldal Eredmények"/>
          <p:cNvSpPr/>
          <p:nvPr/>
        </p:nvSpPr>
        <p:spPr>
          <a:xfrm>
            <a:off x="4654296" y="2514600"/>
            <a:ext cx="12344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8" name="Oldal felirat Eredmények"/>
          <p:cNvSpPr txBox="1"/>
          <p:nvPr/>
        </p:nvSpPr>
        <p:spPr>
          <a:xfrm>
            <a:off x="4700016" y="25146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Eredmények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eredmenyek.html</a:t>
            </a:r>
            <a:endParaRPr lang="en-US" sz="1400" dirty="0"/>
          </a:p>
        </p:txBody>
      </p:sp>
      <p:sp>
        <p:nvSpPr>
          <p:cNvPr id="19" name="Vonal Jelentkezés"/>
          <p:cNvSpPr/>
          <p:nvPr/>
        </p:nvSpPr>
        <p:spPr>
          <a:xfrm>
            <a:off x="6670548" y="2130552"/>
            <a:ext cx="0" cy="384048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20" name="Oldal Jelentkezés"/>
          <p:cNvSpPr/>
          <p:nvPr/>
        </p:nvSpPr>
        <p:spPr>
          <a:xfrm>
            <a:off x="6053328" y="2514600"/>
            <a:ext cx="12344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Oldal felirat Jelentkezés"/>
          <p:cNvSpPr txBox="1"/>
          <p:nvPr/>
        </p:nvSpPr>
        <p:spPr>
          <a:xfrm>
            <a:off x="6099048" y="25146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Jelentkezés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jelentkezes.html</a:t>
            </a:r>
            <a:endParaRPr lang="en-US" sz="1400" dirty="0"/>
          </a:p>
        </p:txBody>
      </p:sp>
      <p:sp>
        <p:nvSpPr>
          <p:cNvPr id="22" name="Vonal Történet"/>
          <p:cNvSpPr/>
          <p:nvPr/>
        </p:nvSpPr>
        <p:spPr>
          <a:xfrm>
            <a:off x="8069580" y="2130552"/>
            <a:ext cx="0" cy="384048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23" name="Oldal Történet"/>
          <p:cNvSpPr/>
          <p:nvPr/>
        </p:nvSpPr>
        <p:spPr>
          <a:xfrm>
            <a:off x="7452360" y="2514600"/>
            <a:ext cx="12344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4" name="Oldal felirat Történet"/>
          <p:cNvSpPr txBox="1"/>
          <p:nvPr/>
        </p:nvSpPr>
        <p:spPr>
          <a:xfrm>
            <a:off x="7498080" y="25146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Történet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főoldal, #tortenet</a:t>
            </a:r>
            <a:endParaRPr lang="en-US" sz="1400" dirty="0"/>
          </a:p>
        </p:txBody>
      </p:sp>
      <p:sp>
        <p:nvSpPr>
          <p:cNvPr id="25" name="Vonal al 5 aloldal"/>
          <p:cNvSpPr/>
          <p:nvPr/>
        </p:nvSpPr>
        <p:spPr>
          <a:xfrm>
            <a:off x="1074420" y="3291840"/>
            <a:ext cx="0" cy="27432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26" name="Aloldal 5 aloldal"/>
          <p:cNvSpPr/>
          <p:nvPr/>
        </p:nvSpPr>
        <p:spPr>
          <a:xfrm>
            <a:off x="457200" y="3566160"/>
            <a:ext cx="12344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27" name="Aloldal felirat 5 aloldal"/>
          <p:cNvSpPr txBox="1"/>
          <p:nvPr/>
        </p:nvSpPr>
        <p:spPr>
          <a:xfrm>
            <a:off x="502920" y="3566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aloldal</a:t>
            </a:r>
            <a:endParaRPr lang="en-US" sz="1400" dirty="0"/>
          </a:p>
        </p:txBody>
      </p:sp>
      <p:sp>
        <p:nvSpPr>
          <p:cNvPr id="28" name="Vonal al 2 beszámoló"/>
          <p:cNvSpPr/>
          <p:nvPr/>
        </p:nvSpPr>
        <p:spPr>
          <a:xfrm>
            <a:off x="3872484" y="3291840"/>
            <a:ext cx="0" cy="27432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29" name="Aloldal 2 beszámoló"/>
          <p:cNvSpPr/>
          <p:nvPr/>
        </p:nvSpPr>
        <p:spPr>
          <a:xfrm>
            <a:off x="3255264" y="3566160"/>
            <a:ext cx="12344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30" name="Aloldal felirat 2 beszámoló"/>
          <p:cNvSpPr txBox="1"/>
          <p:nvPr/>
        </p:nvSpPr>
        <p:spPr>
          <a:xfrm>
            <a:off x="3300984" y="3566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beszámoló</a:t>
            </a:r>
            <a:endParaRPr lang="en-US" sz="1400" dirty="0"/>
          </a:p>
        </p:txBody>
      </p:sp>
      <p:sp>
        <p:nvSpPr>
          <p:cNvPr id="31" name="Vonal al mailto űrlap"/>
          <p:cNvSpPr/>
          <p:nvPr/>
        </p:nvSpPr>
        <p:spPr>
          <a:xfrm>
            <a:off x="6670548" y="3291840"/>
            <a:ext cx="0" cy="27432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32" name="Aloldal mailto űrlap"/>
          <p:cNvSpPr/>
          <p:nvPr/>
        </p:nvSpPr>
        <p:spPr>
          <a:xfrm>
            <a:off x="6053328" y="3566160"/>
            <a:ext cx="12344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33" name="Aloldal felirat mailto űrlap"/>
          <p:cNvSpPr txBox="1"/>
          <p:nvPr/>
        </p:nvSpPr>
        <p:spPr>
          <a:xfrm>
            <a:off x="6099048" y="3566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mailto űrlap</a:t>
            </a:r>
            <a:endParaRPr lang="en-US" sz="1400" dirty="0"/>
          </a:p>
        </p:txBody>
      </p:sp>
      <p:sp>
        <p:nvSpPr>
          <p:cNvPr id="34" name="Megjegyzés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Oldalanként saját CSS-fájl; a szakmaoldalak közös szakmak.css-t használnak.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Amivel készült</a:t>
            </a:r>
            <a:endParaRPr lang="en-US" sz="3000" dirty="0"/>
          </a:p>
        </p:txBody>
      </p:sp>
      <p:sp>
        <p:nvSpPr>
          <p:cNvPr id="3" name="Tech kártya HTML5"/>
          <p:cNvSpPr/>
          <p:nvPr/>
        </p:nvSpPr>
        <p:spPr>
          <a:xfrm>
            <a:off x="457200" y="118872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ch HTML5 kör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ech HTML5 ikon" descr="Tech HTML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320040" cy="320040"/>
          </a:xfrm>
          <a:prstGeom prst="rect">
            <a:avLst/>
          </a:prstGeom>
        </p:spPr>
      </p:pic>
      <p:sp>
        <p:nvSpPr>
          <p:cNvPr id="6" name="Tech cím HTML5"/>
          <p:cNvSpPr txBox="1"/>
          <p:nvPr/>
        </p:nvSpPr>
        <p:spPr>
          <a:xfrm>
            <a:off x="64008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HTML5</a:t>
            </a:r>
            <a:endParaRPr lang="en-US" sz="1800" dirty="0"/>
          </a:p>
        </p:txBody>
      </p:sp>
      <p:sp>
        <p:nvSpPr>
          <p:cNvPr id="7" name="Tech leírás HTML5"/>
          <p:cNvSpPr txBox="1"/>
          <p:nvPr/>
        </p:nvSpPr>
        <p:spPr>
          <a:xfrm>
            <a:off x="640080" y="25603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oldal, jól olvasható szerkezet: header, nav, section, footer.</a:t>
            </a:r>
            <a:endParaRPr lang="en-US" sz="1400" dirty="0"/>
          </a:p>
        </p:txBody>
      </p:sp>
      <p:sp>
        <p:nvSpPr>
          <p:cNvPr id="8" name="Tech kártya CSS3"/>
          <p:cNvSpPr/>
          <p:nvPr/>
        </p:nvSpPr>
        <p:spPr>
          <a:xfrm>
            <a:off x="2560320" y="118872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Tech CSS3 kör"/>
          <p:cNvSpPr/>
          <p:nvPr/>
        </p:nvSpPr>
        <p:spPr>
          <a:xfrm>
            <a:off x="274320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Tech CSS3 ikon" descr="Tech CSS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1531620"/>
            <a:ext cx="320040" cy="320040"/>
          </a:xfrm>
          <a:prstGeom prst="rect">
            <a:avLst/>
          </a:prstGeom>
        </p:spPr>
      </p:pic>
      <p:sp>
        <p:nvSpPr>
          <p:cNvPr id="11" name="Tech cím CSS3"/>
          <p:cNvSpPr txBox="1"/>
          <p:nvPr/>
        </p:nvSpPr>
        <p:spPr>
          <a:xfrm>
            <a:off x="274320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CSS3</a:t>
            </a:r>
            <a:endParaRPr lang="en-US" sz="1800" dirty="0"/>
          </a:p>
        </p:txBody>
      </p:sp>
      <p:sp>
        <p:nvSpPr>
          <p:cNvPr id="12" name="Tech leírás CSS3"/>
          <p:cNvSpPr txBox="1"/>
          <p:nvPr/>
        </p:nvSpPr>
        <p:spPr>
          <a:xfrm>
            <a:off x="2743200" y="25603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Változók, flexbox, grid, media query és átmenetek.</a:t>
            </a:r>
            <a:endParaRPr lang="en-US" sz="1400" dirty="0"/>
          </a:p>
        </p:txBody>
      </p:sp>
      <p:sp>
        <p:nvSpPr>
          <p:cNvPr id="13" name="Tech kártya JavaScript"/>
          <p:cNvSpPr/>
          <p:nvPr/>
        </p:nvSpPr>
        <p:spPr>
          <a:xfrm>
            <a:off x="4663440" y="118872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Tech JavaScript kör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Tech JavaScript ikon" descr="Tech JavaScri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531620"/>
            <a:ext cx="320040" cy="320040"/>
          </a:xfrm>
          <a:prstGeom prst="rect">
            <a:avLst/>
          </a:prstGeom>
        </p:spPr>
      </p:pic>
      <p:sp>
        <p:nvSpPr>
          <p:cNvPr id="16" name="Tech cím JavaScript"/>
          <p:cNvSpPr txBox="1"/>
          <p:nvPr/>
        </p:nvSpPr>
        <p:spPr>
          <a:xfrm>
            <a:off x="484632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17" name="Tech leírás JavaScript"/>
          <p:cNvSpPr txBox="1"/>
          <p:nvPr/>
        </p:nvSpPr>
        <p:spPr>
          <a:xfrm>
            <a:off x="4846320" y="25603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Galéria, JSON-adatok betöltése és az űrlap kezelése.</a:t>
            </a:r>
            <a:endParaRPr lang="en-US" sz="1400" dirty="0"/>
          </a:p>
        </p:txBody>
      </p:sp>
      <p:sp>
        <p:nvSpPr>
          <p:cNvPr id="18" name="Tech kártya GitHub Pages"/>
          <p:cNvSpPr/>
          <p:nvPr/>
        </p:nvSpPr>
        <p:spPr>
          <a:xfrm>
            <a:off x="6766560" y="118872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ch GitHub Pages kör"/>
          <p:cNvSpPr/>
          <p:nvPr/>
        </p:nvSpPr>
        <p:spPr>
          <a:xfrm>
            <a:off x="694944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Tech GitHub Pages ikon" descr="Tech GitHub Pag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1531620"/>
            <a:ext cx="320040" cy="320040"/>
          </a:xfrm>
          <a:prstGeom prst="rect">
            <a:avLst/>
          </a:prstGeom>
        </p:spPr>
      </p:pic>
      <p:sp>
        <p:nvSpPr>
          <p:cNvPr id="21" name="Tech cím GitHub Pages"/>
          <p:cNvSpPr txBox="1"/>
          <p:nvPr/>
        </p:nvSpPr>
        <p:spPr>
          <a:xfrm>
            <a:off x="694944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GitHub Pages</a:t>
            </a:r>
            <a:endParaRPr lang="en-US" sz="1800" dirty="0"/>
          </a:p>
        </p:txBody>
      </p:sp>
      <p:sp>
        <p:nvSpPr>
          <p:cNvPr id="22" name="Tech leírás GitHub Pages"/>
          <p:cNvSpPr txBox="1"/>
          <p:nvPr/>
        </p:nvSpPr>
        <p:spPr>
          <a:xfrm>
            <a:off x="6949440" y="25603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forráskód GitHubon van, onnan szolgálja ki az oldalt.</a:t>
            </a:r>
            <a:endParaRPr lang="en-US" sz="1400" dirty="0"/>
          </a:p>
        </p:txBody>
      </p:sp>
      <p:sp>
        <p:nvSpPr>
          <p:cNvPr id="23" name="Kiemelés sáv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/>
        </p:spPr>
      </p:sp>
      <p:sp>
        <p:nvSpPr>
          <p:cNvPr id="24" name="Kiemelés szöveg"/>
          <p:cNvSpPr txBox="1"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Külső könyvtár és keretrendszer nélkül: minden kód saját.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 főoldal</a:t>
            </a:r>
            <a:endParaRPr lang="en-US" sz="3000" dirty="0"/>
          </a:p>
        </p:txBody>
      </p:sp>
      <p:sp>
        <p:nvSpPr>
          <p:cNvPr id="3" name="Főoldal keret"/>
          <p:cNvSpPr/>
          <p:nvPr/>
        </p:nvSpPr>
        <p:spPr>
          <a:xfrm>
            <a:off x="457200" y="1143000"/>
            <a:ext cx="5303520" cy="2920937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Főoldal pont 1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Főoldal pont 2"/>
          <p:cNvSpPr/>
          <p:nvPr/>
        </p:nvSpPr>
        <p:spPr>
          <a:xfrm>
            <a:off x="69494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Főoldal pont 3"/>
          <p:cNvSpPr/>
          <p:nvPr/>
        </p:nvSpPr>
        <p:spPr>
          <a:xfrm>
            <a:off x="82296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7" name="Főoldal képernyőkép" descr="Főol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456"/>
            <a:ext cx="5303520" cy="2701481"/>
          </a:xfrm>
          <a:prstGeom prst="rect">
            <a:avLst/>
          </a:prstGeom>
        </p:spPr>
      </p:pic>
      <p:sp>
        <p:nvSpPr>
          <p:cNvPr id="8" name="Jelölő 1"/>
          <p:cNvSpPr txBox="1"/>
          <p:nvPr/>
        </p:nvSpPr>
        <p:spPr>
          <a:xfrm>
            <a:off x="4774997" y="139819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Jelölő 2"/>
          <p:cNvSpPr txBox="1"/>
          <p:nvPr/>
        </p:nvSpPr>
        <p:spPr>
          <a:xfrm>
            <a:off x="2971800" y="263006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Jelölő 3"/>
          <p:cNvSpPr txBox="1"/>
          <p:nvPr/>
        </p:nvSpPr>
        <p:spPr>
          <a:xfrm>
            <a:off x="1751990" y="3594494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Pont szám 1"/>
          <p:cNvSpPr txBox="1"/>
          <p:nvPr/>
        </p:nvSpPr>
        <p:spPr>
          <a:xfrm>
            <a:off x="6035040" y="118872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Pont szöveg 1"/>
          <p:cNvSpPr txBox="1"/>
          <p:nvPr/>
        </p:nvSpPr>
        <p:spPr>
          <a:xfrm>
            <a:off x="6492240" y="117043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Lebegő, lekerekített fejléc: a menü mindig elérhető</a:t>
            </a:r>
            <a:endParaRPr lang="en-US" sz="1400" dirty="0"/>
          </a:p>
        </p:txBody>
      </p:sp>
      <p:sp>
        <p:nvSpPr>
          <p:cNvPr id="13" name="Pont szám 2"/>
          <p:cNvSpPr txBox="1"/>
          <p:nvPr/>
        </p:nvSpPr>
        <p:spPr>
          <a:xfrm>
            <a:off x="6035040" y="237744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Pont szöveg 2"/>
          <p:cNvSpPr txBox="1"/>
          <p:nvPr/>
        </p:nvSpPr>
        <p:spPr>
          <a:xfrm>
            <a:off x="6492240" y="235915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Nagy kezdőkép sötét átmenettel, hogy a szöveg olvasható maradjon</a:t>
            </a:r>
            <a:endParaRPr lang="en-US" sz="1400" dirty="0"/>
          </a:p>
        </p:txBody>
      </p:sp>
      <p:sp>
        <p:nvSpPr>
          <p:cNvPr id="15" name="Pont szám 3"/>
          <p:cNvSpPr txBox="1"/>
          <p:nvPr/>
        </p:nvSpPr>
        <p:spPr>
          <a:xfrm>
            <a:off x="6035040" y="356616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Pont szöveg 3"/>
          <p:cNvSpPr txBox="1"/>
          <p:nvPr/>
        </p:nvSpPr>
        <p:spPr>
          <a:xfrm>
            <a:off x="6492240" y="354787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Arany gomb: a fő cselekvés mindig kiemelt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 kód: HTML szerkezet</a:t>
            </a:r>
            <a:endParaRPr lang="en-US" sz="3000" dirty="0"/>
          </a:p>
        </p:txBody>
      </p:sp>
      <p:sp>
        <p:nvSpPr>
          <p:cNvPr id="3" name="HTML kód panel"/>
          <p:cNvSpPr/>
          <p:nvPr/>
        </p:nvSpPr>
        <p:spPr>
          <a:xfrm>
            <a:off x="457200" y="1143000"/>
            <a:ext cx="5577840" cy="3520440"/>
          </a:xfrm>
          <a:prstGeom prst="roundRect">
            <a:avLst>
              <a:gd name="adj" fmla="val 3117"/>
            </a:avLst>
          </a:prstGeom>
          <a:solidFill>
            <a:srgbClr val="0B1426"/>
          </a:solidFill>
          <a:ln/>
        </p:spPr>
      </p:sp>
      <p:sp>
        <p:nvSpPr>
          <p:cNvPr id="4" name="HTML kód fájlnév"/>
          <p:cNvSpPr txBox="1"/>
          <p:nvPr/>
        </p:nvSpPr>
        <p:spPr>
          <a:xfrm>
            <a:off x="640080" y="12344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5" name="HTML kód kód"/>
          <p:cNvSpPr txBox="1"/>
          <p:nvPr/>
        </p:nvSpPr>
        <p:spPr>
          <a:xfrm>
            <a:off x="640080" y="1527048"/>
            <a:ext cx="52120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"fejlec-tartalom"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"index.html"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"logo-terulet"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"pg_logo.png"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"PG Bencés Címer"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Szent Benedek PG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"menu"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"beiskolazas.html"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Beiskolázás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"munkatarsak.html"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Munkatársaink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"jelentkezes.html"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"jelentkezes-gomb"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Jelentkezés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"nyito-resz"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JÖVŐD A PG-BEN KEZDŐDIK!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6" name="HTML cím 1"/>
          <p:cNvSpPr txBox="1"/>
          <p:nvPr/>
        </p:nvSpPr>
        <p:spPr>
          <a:xfrm>
            <a:off x="6309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Szemantikus elemek</a:t>
            </a:r>
            <a:endParaRPr lang="en-US" sz="1600" dirty="0"/>
          </a:p>
        </p:txBody>
      </p:sp>
      <p:sp>
        <p:nvSpPr>
          <p:cNvPr id="7" name="HTML leírás 1"/>
          <p:cNvSpPr txBox="1"/>
          <p:nvPr/>
        </p:nvSpPr>
        <p:spPr>
          <a:xfrm>
            <a:off x="630936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header, nav, section: érthető szerkezet</a:t>
            </a:r>
            <a:endParaRPr lang="en-US" sz="1400" dirty="0"/>
          </a:p>
        </p:txBody>
      </p:sp>
      <p:sp>
        <p:nvSpPr>
          <p:cNvPr id="8" name="HTML cím 2"/>
          <p:cNvSpPr txBox="1"/>
          <p:nvPr/>
        </p:nvSpPr>
        <p:spPr>
          <a:xfrm>
            <a:off x="63093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Magyar osztálynevek</a:t>
            </a:r>
            <a:endParaRPr lang="en-US" sz="1600" dirty="0"/>
          </a:p>
        </p:txBody>
      </p:sp>
      <p:sp>
        <p:nvSpPr>
          <p:cNvPr id="9" name="HTML leírás 2"/>
          <p:cNvSpPr txBox="1"/>
          <p:nvPr/>
        </p:nvSpPr>
        <p:spPr>
          <a:xfrm>
            <a:off x="6309360" y="2743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pl. .fejlec-tartalom, .nyito-resz</a:t>
            </a:r>
            <a:endParaRPr lang="en-US" sz="1400" dirty="0"/>
          </a:p>
        </p:txBody>
      </p:sp>
      <p:sp>
        <p:nvSpPr>
          <p:cNvPr id="10" name="HTML cím 3"/>
          <p:cNvSpPr txBox="1"/>
          <p:nvPr/>
        </p:nvSpPr>
        <p:spPr>
          <a:xfrm>
            <a:off x="630936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Közös fejléc</a:t>
            </a:r>
            <a:endParaRPr lang="en-US" sz="1600" dirty="0"/>
          </a:p>
        </p:txBody>
      </p:sp>
      <p:sp>
        <p:nvSpPr>
          <p:cNvPr id="11" name="HTML leírás 3"/>
          <p:cNvSpPr txBox="1"/>
          <p:nvPr/>
        </p:nvSpPr>
        <p:spPr>
          <a:xfrm>
            <a:off x="630936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ugyanaz a menü minden oldalon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 kód: CSS változók és fejléc</a:t>
            </a:r>
            <a:endParaRPr lang="en-US" sz="3000" dirty="0"/>
          </a:p>
        </p:txBody>
      </p:sp>
      <p:sp>
        <p:nvSpPr>
          <p:cNvPr id="3" name="CSS kód 1 panel"/>
          <p:cNvSpPr/>
          <p:nvPr/>
        </p:nvSpPr>
        <p:spPr>
          <a:xfrm>
            <a:off x="457200" y="1143000"/>
            <a:ext cx="4480560" cy="3520440"/>
          </a:xfrm>
          <a:prstGeom prst="roundRect">
            <a:avLst>
              <a:gd name="adj" fmla="val 3117"/>
            </a:avLst>
          </a:prstGeom>
          <a:solidFill>
            <a:srgbClr val="0B1426"/>
          </a:solidFill>
          <a:ln/>
        </p:spPr>
      </p:sp>
      <p:sp>
        <p:nvSpPr>
          <p:cNvPr id="4" name="CSS kód 1 fájlnév"/>
          <p:cNvSpPr txBox="1"/>
          <p:nvPr/>
        </p:nvSpPr>
        <p:spPr>
          <a:xfrm>
            <a:off x="64008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index.css</a:t>
            </a:r>
            <a:endParaRPr lang="en-US" sz="1000" dirty="0"/>
          </a:p>
        </p:txBody>
      </p:sp>
      <p:sp>
        <p:nvSpPr>
          <p:cNvPr id="5" name="CSS kód 1 kód"/>
          <p:cNvSpPr txBox="1"/>
          <p:nvPr/>
        </p:nvSpPr>
        <p:spPr>
          <a:xfrm>
            <a:off x="640080" y="1527048"/>
            <a:ext cx="411480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--kek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#002c5f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--kek-sotet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#001a3a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--arany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#c5a059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fixed;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14px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translateX(-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rgba(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backdrop-filter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blur(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999px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Fejléc cím"/>
          <p:cNvSpPr txBox="1"/>
          <p:nvPr/>
        </p:nvSpPr>
        <p:spPr>
          <a:xfrm>
            <a:off x="52120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Lebegő fejléc</a:t>
            </a:r>
            <a:endParaRPr lang="en-US" sz="1600" dirty="0"/>
          </a:p>
        </p:txBody>
      </p:sp>
      <p:sp>
        <p:nvSpPr>
          <p:cNvPr id="7" name="Fejléc keret"/>
          <p:cNvSpPr/>
          <p:nvPr/>
        </p:nvSpPr>
        <p:spPr>
          <a:xfrm>
            <a:off x="5212080" y="1508760"/>
            <a:ext cx="3474720" cy="490919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Fejléc pont 1"/>
          <p:cNvSpPr/>
          <p:nvPr/>
        </p:nvSpPr>
        <p:spPr>
          <a:xfrm>
            <a:off x="5321808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Fejléc pont 2"/>
          <p:cNvSpPr/>
          <p:nvPr/>
        </p:nvSpPr>
        <p:spPr>
          <a:xfrm>
            <a:off x="5449824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Fejléc pont 3"/>
          <p:cNvSpPr/>
          <p:nvPr/>
        </p:nvSpPr>
        <p:spPr>
          <a:xfrm>
            <a:off x="5577840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Fejléc képernyőkép" descr="Fejlé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728216"/>
            <a:ext cx="3474720" cy="271463"/>
          </a:xfrm>
          <a:prstGeom prst="rect">
            <a:avLst/>
          </a:prstGeom>
        </p:spPr>
      </p:pic>
      <p:sp>
        <p:nvSpPr>
          <p:cNvPr id="12" name="Paletta cím"/>
          <p:cNvSpPr txBox="1"/>
          <p:nvPr/>
        </p:nvSpPr>
        <p:spPr>
          <a:xfrm>
            <a:off x="521208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Színpaletta</a:t>
            </a:r>
            <a:endParaRPr lang="en-US" sz="1600" dirty="0"/>
          </a:p>
        </p:txBody>
      </p:sp>
      <p:sp>
        <p:nvSpPr>
          <p:cNvPr id="13" name="Szín --kek"/>
          <p:cNvSpPr/>
          <p:nvPr/>
        </p:nvSpPr>
        <p:spPr>
          <a:xfrm>
            <a:off x="5212080" y="2880360"/>
            <a:ext cx="640080" cy="640080"/>
          </a:xfrm>
          <a:prstGeom prst="ellipse">
            <a:avLst/>
          </a:prstGeom>
          <a:solidFill>
            <a:srgbClr val="002C5F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4" name="Szín felirat --kek"/>
          <p:cNvSpPr txBox="1"/>
          <p:nvPr/>
        </p:nvSpPr>
        <p:spPr>
          <a:xfrm>
            <a:off x="5212080" y="35844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#002C5F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--kek</a:t>
            </a:r>
            <a:endParaRPr lang="en-US" sz="1100" dirty="0"/>
          </a:p>
        </p:txBody>
      </p:sp>
      <p:sp>
        <p:nvSpPr>
          <p:cNvPr id="15" name="Szín --kek-sotet"/>
          <p:cNvSpPr/>
          <p:nvPr/>
        </p:nvSpPr>
        <p:spPr>
          <a:xfrm>
            <a:off x="6400800" y="2880360"/>
            <a:ext cx="640080" cy="640080"/>
          </a:xfrm>
          <a:prstGeom prst="ellipse">
            <a:avLst/>
          </a:prstGeom>
          <a:solidFill>
            <a:srgbClr val="001A3A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6" name="Szín felirat --kek-sotet"/>
          <p:cNvSpPr txBox="1"/>
          <p:nvPr/>
        </p:nvSpPr>
        <p:spPr>
          <a:xfrm>
            <a:off x="6400800" y="35844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#001A3A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--kek-sotet</a:t>
            </a:r>
            <a:endParaRPr lang="en-US" sz="1100" dirty="0"/>
          </a:p>
        </p:txBody>
      </p:sp>
      <p:sp>
        <p:nvSpPr>
          <p:cNvPr id="17" name="Szín --arany"/>
          <p:cNvSpPr/>
          <p:nvPr/>
        </p:nvSpPr>
        <p:spPr>
          <a:xfrm>
            <a:off x="7589520" y="2880360"/>
            <a:ext cx="640080" cy="640080"/>
          </a:xfrm>
          <a:prstGeom prst="ellipse">
            <a:avLst/>
          </a:prstGeom>
          <a:solidFill>
            <a:srgbClr val="C5A059"/>
          </a:solidFill>
          <a:ln w="9525">
            <a:solidFill>
              <a:srgbClr val="C9D2E0"/>
            </a:solidFill>
            <a:prstDash val="solid"/>
          </a:ln>
        </p:spPr>
      </p:sp>
      <p:sp>
        <p:nvSpPr>
          <p:cNvPr id="18" name="Szín felirat --arany"/>
          <p:cNvSpPr txBox="1"/>
          <p:nvPr/>
        </p:nvSpPr>
        <p:spPr>
          <a:xfrm>
            <a:off x="7589520" y="35844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#C5A059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--arany</a:t>
            </a:r>
            <a:endParaRPr lang="en-US" sz="1100" dirty="0"/>
          </a:p>
        </p:txBody>
      </p:sp>
      <p:sp>
        <p:nvSpPr>
          <p:cNvPr id="19" name="Paletta megjegyzés"/>
          <p:cNvSpPr txBox="1"/>
          <p:nvPr/>
        </p:nvSpPr>
        <p:spPr>
          <a:xfrm>
            <a:off x="521208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színek változókból jönnek, így egy helyen cserélhetők.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 kód: kártyák és rács</a:t>
            </a:r>
            <a:endParaRPr lang="en-US" sz="3000" dirty="0"/>
          </a:p>
        </p:txBody>
      </p:sp>
      <p:sp>
        <p:nvSpPr>
          <p:cNvPr id="3" name="Kártyák keret"/>
          <p:cNvSpPr/>
          <p:nvPr/>
        </p:nvSpPr>
        <p:spPr>
          <a:xfrm>
            <a:off x="457200" y="1143000"/>
            <a:ext cx="4206240" cy="2585466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Kártyák pont 1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Kártyák pont 2"/>
          <p:cNvSpPr/>
          <p:nvPr/>
        </p:nvSpPr>
        <p:spPr>
          <a:xfrm>
            <a:off x="69494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Kártyák pont 3"/>
          <p:cNvSpPr/>
          <p:nvPr/>
        </p:nvSpPr>
        <p:spPr>
          <a:xfrm>
            <a:off x="82296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7" name="Kártyák képernyőkép" descr="Kártyá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456"/>
            <a:ext cx="4206240" cy="2366010"/>
          </a:xfrm>
          <a:prstGeom prst="rect">
            <a:avLst/>
          </a:prstGeom>
        </p:spPr>
      </p:pic>
      <p:sp>
        <p:nvSpPr>
          <p:cNvPr id="8" name="Kártyák megjegyzés"/>
          <p:cNvSpPr txBox="1"/>
          <p:nvPr/>
        </p:nvSpPr>
        <p:spPr>
          <a:xfrm>
            <a:off x="45720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kártyák a képernyő szélességéhez igazodnak, egérrel ráközelít a kép.</a:t>
            </a:r>
            <a:endParaRPr lang="en-US" sz="1400" dirty="0"/>
          </a:p>
        </p:txBody>
      </p:sp>
      <p:sp>
        <p:nvSpPr>
          <p:cNvPr id="9" name="CSS kód 2 panel"/>
          <p:cNvSpPr/>
          <p:nvPr/>
        </p:nvSpPr>
        <p:spPr>
          <a:xfrm>
            <a:off x="4846320" y="1143000"/>
            <a:ext cx="3840480" cy="3429000"/>
          </a:xfrm>
          <a:prstGeom prst="roundRect">
            <a:avLst>
              <a:gd name="adj" fmla="val 3200"/>
            </a:avLst>
          </a:prstGeom>
          <a:solidFill>
            <a:srgbClr val="0B1426"/>
          </a:solidFill>
          <a:ln/>
        </p:spPr>
      </p:sp>
      <p:sp>
        <p:nvSpPr>
          <p:cNvPr id="10" name="CSS kód 2 fájlnév"/>
          <p:cNvSpPr txBox="1"/>
          <p:nvPr/>
        </p:nvSpPr>
        <p:spPr>
          <a:xfrm>
            <a:off x="50292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index.css (részlet)</a:t>
            </a:r>
            <a:endParaRPr lang="en-US" sz="1000" dirty="0"/>
          </a:p>
        </p:txBody>
      </p:sp>
      <p:sp>
        <p:nvSpPr>
          <p:cNvPr id="11" name="CSS kód 2 kód"/>
          <p:cNvSpPr txBox="1"/>
          <p:nvPr/>
        </p:nvSpPr>
        <p:spPr>
          <a:xfrm>
            <a:off x="5029200" y="1527048"/>
            <a:ext cx="34747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.kartya-lista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grid;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repeat(auto-fit,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minmax(</a:t>
            </a:r>
            <a:pPr indent="0" marL="0">
              <a:buNone/>
            </a:pPr>
            <a:r>
              <a:rPr lang="en-US" sz="11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.kartya-kep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absolute;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inset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.informacio-kartya:hover .kartya-kep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scale(</a:t>
            </a:r>
            <a:pPr indent="0" marL="0">
              <a:buNone/>
            </a:pPr>
            <a:r>
              <a:rPr lang="en-US" sz="11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1.06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Mobilon is jól néz ki</a:t>
            </a:r>
            <a:endParaRPr lang="en-US" sz="3000" dirty="0"/>
          </a:p>
        </p:txBody>
      </p:sp>
      <p:sp>
        <p:nvSpPr>
          <p:cNvPr id="3" name="Főoldal mobilon keret"/>
          <p:cNvSpPr/>
          <p:nvPr/>
        </p:nvSpPr>
        <p:spPr>
          <a:xfrm>
            <a:off x="457200" y="1143000"/>
            <a:ext cx="1842516" cy="3557016"/>
          </a:xfrm>
          <a:prstGeom prst="roundRect">
            <a:avLst>
              <a:gd name="adj" fmla="val 7940"/>
            </a:avLst>
          </a:prstGeom>
          <a:solidFill>
            <a:srgbClr val="0B142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4" name="Főoldal mobilon képernyőkép" descr="Főoldal mobil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07008"/>
            <a:ext cx="1714500" cy="3429000"/>
          </a:xfrm>
          <a:prstGeom prst="rect">
            <a:avLst/>
          </a:prstGeom>
        </p:spPr>
      </p:pic>
      <p:sp>
        <p:nvSpPr>
          <p:cNvPr id="5" name="Kártyák mobilon keret"/>
          <p:cNvSpPr/>
          <p:nvPr/>
        </p:nvSpPr>
        <p:spPr>
          <a:xfrm>
            <a:off x="2482596" y="1143000"/>
            <a:ext cx="1842516" cy="3557016"/>
          </a:xfrm>
          <a:prstGeom prst="roundRect">
            <a:avLst>
              <a:gd name="adj" fmla="val 7940"/>
            </a:avLst>
          </a:prstGeom>
          <a:solidFill>
            <a:srgbClr val="0B142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6" name="Kártyák mobilon képernyőkép" descr="Kártyák mobil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604" y="1207008"/>
            <a:ext cx="1714500" cy="3429000"/>
          </a:xfrm>
          <a:prstGeom prst="rect">
            <a:avLst/>
          </a:prstGeom>
        </p:spPr>
      </p:pic>
      <p:sp>
        <p:nvSpPr>
          <p:cNvPr id="7" name="CSS kód 3 panel"/>
          <p:cNvSpPr/>
          <p:nvPr/>
        </p:nvSpPr>
        <p:spPr>
          <a:xfrm>
            <a:off x="4480560" y="1143000"/>
            <a:ext cx="4206240" cy="2423160"/>
          </a:xfrm>
          <a:prstGeom prst="roundRect">
            <a:avLst>
              <a:gd name="adj" fmla="val 4528"/>
            </a:avLst>
          </a:prstGeom>
          <a:solidFill>
            <a:srgbClr val="0B1426"/>
          </a:solidFill>
          <a:ln/>
        </p:spPr>
      </p:sp>
      <p:sp>
        <p:nvSpPr>
          <p:cNvPr id="8" name="CSS kód 3 fájlnév"/>
          <p:cNvSpPr txBox="1"/>
          <p:nvPr/>
        </p:nvSpPr>
        <p:spPr>
          <a:xfrm>
            <a:off x="4663440" y="1234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index.css</a:t>
            </a:r>
            <a:endParaRPr lang="en-US" sz="1000" dirty="0"/>
          </a:p>
        </p:txBody>
      </p:sp>
      <p:sp>
        <p:nvSpPr>
          <p:cNvPr id="9" name="CSS kód 3 kód"/>
          <p:cNvSpPr txBox="1"/>
          <p:nvPr/>
        </p:nvSpPr>
        <p:spPr>
          <a:xfrm>
            <a:off x="4663440" y="1527048"/>
            <a:ext cx="38404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24px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.fejlec-tartalom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wrap;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.menu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külön sorba kerül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overflow-x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auto;  </a:t>
            </a:r>
            <a:pPr indent="0" marL="0">
              <a:buNone/>
            </a:pPr>
            <a:r>
              <a:rPr lang="en-US" sz="1050" dirty="0">
                <a:solidFill>
                  <a:srgbClr val="7A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oldalra húzható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white-space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nowrap;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.nyito-resz h1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44px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Reszponzív megjegyzés"/>
          <p:cNvSpPr txBox="1"/>
          <p:nvPr/>
        </p:nvSpPr>
        <p:spPr>
          <a:xfrm>
            <a:off x="4480560" y="37490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Tablet (1024 px) és mobil (768 px) nézetre külön szabályok vannak. A menü mobilon külön sorba kerül, és oldalra húzható.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Beiskolázás és szakmaoldalak</a:t>
            </a:r>
            <a:endParaRPr lang="en-US" sz="3000" dirty="0"/>
          </a:p>
        </p:txBody>
      </p:sp>
      <p:sp>
        <p:nvSpPr>
          <p:cNvPr id="3" name="Beiskolázás keret"/>
          <p:cNvSpPr/>
          <p:nvPr/>
        </p:nvSpPr>
        <p:spPr>
          <a:xfrm>
            <a:off x="457200" y="1143000"/>
            <a:ext cx="3931920" cy="2431161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Beiskolázás pont 1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Beiskolázás pont 2"/>
          <p:cNvSpPr/>
          <p:nvPr/>
        </p:nvSpPr>
        <p:spPr>
          <a:xfrm>
            <a:off x="69494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Beiskolázás pont 3"/>
          <p:cNvSpPr/>
          <p:nvPr/>
        </p:nvSpPr>
        <p:spPr>
          <a:xfrm>
            <a:off x="82296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7" name="Beiskolázás képernyőkép" descr="Beiskolázá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456"/>
            <a:ext cx="3931920" cy="2211705"/>
          </a:xfrm>
          <a:prstGeom prst="rect">
            <a:avLst/>
          </a:prstGeom>
        </p:spPr>
      </p:pic>
      <p:sp>
        <p:nvSpPr>
          <p:cNvPr id="8" name="Szakmaoldal keret"/>
          <p:cNvSpPr/>
          <p:nvPr/>
        </p:nvSpPr>
        <p:spPr>
          <a:xfrm>
            <a:off x="4754880" y="1143000"/>
            <a:ext cx="3931920" cy="2431161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zakmaoldal pont 1"/>
          <p:cNvSpPr/>
          <p:nvPr/>
        </p:nvSpPr>
        <p:spPr>
          <a:xfrm>
            <a:off x="486460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zakmaoldal pont 2"/>
          <p:cNvSpPr/>
          <p:nvPr/>
        </p:nvSpPr>
        <p:spPr>
          <a:xfrm>
            <a:off x="499262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zakmaoldal pont 3"/>
          <p:cNvSpPr/>
          <p:nvPr/>
        </p:nvSpPr>
        <p:spPr>
          <a:xfrm>
            <a:off x="512064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2" name="Szakmaoldal képernyőkép" descr="Szakmaol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62456"/>
            <a:ext cx="3931920" cy="2211705"/>
          </a:xfrm>
          <a:prstGeom prst="rect">
            <a:avLst/>
          </a:prstGeom>
        </p:spPr>
      </p:pic>
      <p:sp>
        <p:nvSpPr>
          <p:cNvPr id="13" name="Beiskolázás leírás"/>
          <p:cNvSpPr txBox="1"/>
          <p:nvPr/>
        </p:nvSpPr>
        <p:spPr>
          <a:xfrm>
            <a:off x="45720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Beiskolázás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Öt tanulmányi terület kártyákon, mellette a beiskolázási szórólap képei.</a:t>
            </a:r>
            <a:endParaRPr lang="en-US" sz="1600" dirty="0"/>
          </a:p>
        </p:txBody>
      </p:sp>
      <p:sp>
        <p:nvSpPr>
          <p:cNvPr id="14" name="Szakmaoldal leírás"/>
          <p:cNvSpPr txBox="1"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Szakmaoldal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Kód, képzési idő és „kinek ajánljuk”: öt oldal, közös szakmak.css.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További oldalak</a:t>
            </a:r>
            <a:endParaRPr lang="en-US" sz="3000" dirty="0"/>
          </a:p>
        </p:txBody>
      </p:sp>
      <p:sp>
        <p:nvSpPr>
          <p:cNvPr id="3" name="Munkatársak keret"/>
          <p:cNvSpPr/>
          <p:nvPr/>
        </p:nvSpPr>
        <p:spPr>
          <a:xfrm>
            <a:off x="457200" y="1143000"/>
            <a:ext cx="2651760" cy="1711071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Munkatársak pont 1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Munkatársak pont 2"/>
          <p:cNvSpPr/>
          <p:nvPr/>
        </p:nvSpPr>
        <p:spPr>
          <a:xfrm>
            <a:off x="69494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Munkatársak pont 3"/>
          <p:cNvSpPr/>
          <p:nvPr/>
        </p:nvSpPr>
        <p:spPr>
          <a:xfrm>
            <a:off x="82296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7" name="Munkatársak képernyőkép" descr="Munkatárs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456"/>
            <a:ext cx="2651760" cy="1491615"/>
          </a:xfrm>
          <a:prstGeom prst="rect">
            <a:avLst/>
          </a:prstGeom>
        </p:spPr>
      </p:pic>
      <p:sp>
        <p:nvSpPr>
          <p:cNvPr id="8" name="Oldal cím Munkatársak"/>
          <p:cNvSpPr txBox="1"/>
          <p:nvPr/>
        </p:nvSpPr>
        <p:spPr>
          <a:xfrm>
            <a:off x="45720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Munkatársak</a:t>
            </a:r>
            <a:endParaRPr lang="en-US" sz="1600" dirty="0"/>
          </a:p>
        </p:txBody>
      </p:sp>
      <p:sp>
        <p:nvSpPr>
          <p:cNvPr id="9" name="Oldal leírás Munkatársak"/>
          <p:cNvSpPr txBox="1"/>
          <p:nvPr/>
        </p:nvSpPr>
        <p:spPr>
          <a:xfrm>
            <a:off x="457200" y="3429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Vezetőség, tanárok, óraadók és technikai dolgozók fényképes kártyákon.</a:t>
            </a:r>
            <a:endParaRPr lang="en-US" sz="1400" dirty="0"/>
          </a:p>
        </p:txBody>
      </p:sp>
      <p:sp>
        <p:nvSpPr>
          <p:cNvPr id="10" name="Erasmus+ keret"/>
          <p:cNvSpPr/>
          <p:nvPr/>
        </p:nvSpPr>
        <p:spPr>
          <a:xfrm>
            <a:off x="3246120" y="1143000"/>
            <a:ext cx="2651760" cy="1711071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Erasmus+ pont 1"/>
          <p:cNvSpPr/>
          <p:nvPr/>
        </p:nvSpPr>
        <p:spPr>
          <a:xfrm>
            <a:off x="335584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Erasmus+ pont 2"/>
          <p:cNvSpPr/>
          <p:nvPr/>
        </p:nvSpPr>
        <p:spPr>
          <a:xfrm>
            <a:off x="348386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Erasmus+ pont 3"/>
          <p:cNvSpPr/>
          <p:nvPr/>
        </p:nvSpPr>
        <p:spPr>
          <a:xfrm>
            <a:off x="361188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4" name="Erasmus+ képernyőkép" descr="Erasmus+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62456"/>
            <a:ext cx="2651760" cy="1491615"/>
          </a:xfrm>
          <a:prstGeom prst="rect">
            <a:avLst/>
          </a:prstGeom>
        </p:spPr>
      </p:pic>
      <p:sp>
        <p:nvSpPr>
          <p:cNvPr id="15" name="Oldal cím Erasmus+"/>
          <p:cNvSpPr txBox="1"/>
          <p:nvPr/>
        </p:nvSpPr>
        <p:spPr>
          <a:xfrm>
            <a:off x="324612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Erasmus+</a:t>
            </a:r>
            <a:endParaRPr lang="en-US" sz="1600" dirty="0"/>
          </a:p>
        </p:txBody>
      </p:sp>
      <p:sp>
        <p:nvSpPr>
          <p:cNvPr id="16" name="Oldal leírás Erasmus+"/>
          <p:cNvSpPr txBox="1"/>
          <p:nvPr/>
        </p:nvSpPr>
        <p:spPr>
          <a:xfrm>
            <a:off x="3246120" y="3429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2022-es és 2024-es mobilitás beszámolója képgalériával.</a:t>
            </a:r>
            <a:endParaRPr lang="en-US" sz="1400" dirty="0"/>
          </a:p>
        </p:txBody>
      </p:sp>
      <p:sp>
        <p:nvSpPr>
          <p:cNvPr id="17" name="Történet keret"/>
          <p:cNvSpPr/>
          <p:nvPr/>
        </p:nvSpPr>
        <p:spPr>
          <a:xfrm>
            <a:off x="6035040" y="1143000"/>
            <a:ext cx="2651760" cy="1711071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8" name="Történet pont 1"/>
          <p:cNvSpPr/>
          <p:nvPr/>
        </p:nvSpPr>
        <p:spPr>
          <a:xfrm>
            <a:off x="614476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9" name="Történet pont 2"/>
          <p:cNvSpPr/>
          <p:nvPr/>
        </p:nvSpPr>
        <p:spPr>
          <a:xfrm>
            <a:off x="627278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0" name="Történet pont 3"/>
          <p:cNvSpPr/>
          <p:nvPr/>
        </p:nvSpPr>
        <p:spPr>
          <a:xfrm>
            <a:off x="640080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1" name="Történet képernyőkép" descr="Történ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62456"/>
            <a:ext cx="2651760" cy="1491615"/>
          </a:xfrm>
          <a:prstGeom prst="rect">
            <a:avLst/>
          </a:prstGeom>
        </p:spPr>
      </p:pic>
      <p:sp>
        <p:nvSpPr>
          <p:cNvPr id="22" name="Oldal cím Történet"/>
          <p:cNvSpPr txBox="1"/>
          <p:nvPr/>
        </p:nvSpPr>
        <p:spPr>
          <a:xfrm>
            <a:off x="603504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Történet</a:t>
            </a:r>
            <a:endParaRPr lang="en-US" sz="1600" dirty="0"/>
          </a:p>
        </p:txBody>
      </p:sp>
      <p:sp>
        <p:nvSpPr>
          <p:cNvPr id="23" name="Oldal leírás Történet"/>
          <p:cNvSpPr txBox="1"/>
          <p:nvPr/>
        </p:nvSpPr>
        <p:spPr>
          <a:xfrm>
            <a:off x="6035040" y="3429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Régi képeslap és rövid szöveg az iskola múltjáról a főoldalon.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Eredmények: galéria és JSON</a:t>
            </a:r>
            <a:endParaRPr lang="en-US" sz="3000" dirty="0"/>
          </a:p>
        </p:txBody>
      </p:sp>
      <p:sp>
        <p:nvSpPr>
          <p:cNvPr id="3" name="JS kód panel"/>
          <p:cNvSpPr/>
          <p:nvPr/>
        </p:nvSpPr>
        <p:spPr>
          <a:xfrm>
            <a:off x="457200" y="114300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0B1426"/>
          </a:solidFill>
          <a:ln/>
        </p:spPr>
      </p:sp>
      <p:sp>
        <p:nvSpPr>
          <p:cNvPr id="4" name="JS kód fájlnév"/>
          <p:cNvSpPr txBox="1"/>
          <p:nvPr/>
        </p:nvSpPr>
        <p:spPr>
          <a:xfrm>
            <a:off x="640080" y="12344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eredmenyek.html</a:t>
            </a:r>
            <a:endParaRPr lang="en-US" sz="1000" dirty="0"/>
          </a:p>
        </p:txBody>
      </p:sp>
      <p:sp>
        <p:nvSpPr>
          <p:cNvPr id="5" name="JS kód kód"/>
          <p:cNvSpPr txBox="1"/>
          <p:nvPr/>
        </p:nvSpPr>
        <p:spPr>
          <a:xfrm>
            <a:off x="640080" y="1527048"/>
            <a:ext cx="47548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buNone/>
            </a:pPr>
            <a:r>
              <a:rPr lang="en-US" sz="10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indent="0" marL="0">
              <a:buNone/>
            </a:pPr>
            <a:r>
              <a:rPr lang="en-US" sz="1050" dirty="0">
                <a:solidFill>
                  <a:srgbClr val="F2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galeria.innerHTML += 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"kep"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"sikerek/image_${i}.jpg"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"Iskolai eredmények ${i}. kép"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050" dirty="0">
                <a:solidFill>
                  <a:srgbClr val="E5C7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"lazy"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indent="0" marL="0">
              <a:buNone/>
            </a:pPr>
            <a:r>
              <a:rPr lang="en-US" sz="1050" dirty="0">
                <a:solidFill>
                  <a:srgbClr val="7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JSON kód panel"/>
          <p:cNvSpPr/>
          <p:nvPr/>
        </p:nvSpPr>
        <p:spPr>
          <a:xfrm>
            <a:off x="457200" y="347472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0B1426"/>
          </a:solidFill>
          <a:ln/>
        </p:spPr>
      </p:sp>
      <p:sp>
        <p:nvSpPr>
          <p:cNvPr id="7" name="JSON kód fájlnév"/>
          <p:cNvSpPr txBox="1"/>
          <p:nvPr/>
        </p:nvSpPr>
        <p:spPr>
          <a:xfrm>
            <a:off x="640080" y="35661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eredmenyek.JSON</a:t>
            </a:r>
            <a:endParaRPr lang="en-US" sz="1000" dirty="0"/>
          </a:p>
        </p:txBody>
      </p:sp>
      <p:sp>
        <p:nvSpPr>
          <p:cNvPr id="8" name="JSON kód kód"/>
          <p:cNvSpPr txBox="1"/>
          <p:nvPr/>
        </p:nvSpPr>
        <p:spPr>
          <a:xfrm>
            <a:off x="640080" y="385876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"&lt;p&gt;2025. április 9-én Budapesten ...&lt;/p&gt;"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"&lt;p&gt;Idén 11. alkalommal került ...&lt;/p&gt;"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9" name="Eredmények keret"/>
          <p:cNvSpPr/>
          <p:nvPr/>
        </p:nvSpPr>
        <p:spPr>
          <a:xfrm>
            <a:off x="5943600" y="1143000"/>
            <a:ext cx="2743200" cy="1762506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Eredmények pont 1"/>
          <p:cNvSpPr/>
          <p:nvPr/>
        </p:nvSpPr>
        <p:spPr>
          <a:xfrm>
            <a:off x="605332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Eredmények pont 2"/>
          <p:cNvSpPr/>
          <p:nvPr/>
        </p:nvSpPr>
        <p:spPr>
          <a:xfrm>
            <a:off x="618134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Eredmények pont 3"/>
          <p:cNvSpPr/>
          <p:nvPr/>
        </p:nvSpPr>
        <p:spPr>
          <a:xfrm>
            <a:off x="630936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Eredmények képernyőkép" descr="Eredménye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62456"/>
            <a:ext cx="2743200" cy="1543050"/>
          </a:xfrm>
          <a:prstGeom prst="rect">
            <a:avLst/>
          </a:prstGeom>
        </p:spPr>
      </p:pic>
      <p:sp>
        <p:nvSpPr>
          <p:cNvPr id="14" name="Galéria pontok"/>
          <p:cNvSpPr txBox="1"/>
          <p:nvPr/>
        </p:nvSpPr>
        <p:spPr>
          <a:xfrm>
            <a:off x="5943600" y="3108960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80 kép betöltése egyetlen ciklussal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leírások az eredmenyek.JSON fájlból jönnek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képre állva megjelenik a hozzá tartozó szöveg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Jelentkezési űrlap</a:t>
            </a:r>
            <a:endParaRPr lang="en-US" sz="3000" dirty="0"/>
          </a:p>
        </p:txBody>
      </p:sp>
      <p:sp>
        <p:nvSpPr>
          <p:cNvPr id="3" name="Űrlap keret"/>
          <p:cNvSpPr/>
          <p:nvPr/>
        </p:nvSpPr>
        <p:spPr>
          <a:xfrm>
            <a:off x="457200" y="1143000"/>
            <a:ext cx="3200400" cy="2019681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Űrlap pont 1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Űrlap pont 2"/>
          <p:cNvSpPr/>
          <p:nvPr/>
        </p:nvSpPr>
        <p:spPr>
          <a:xfrm>
            <a:off x="694944" y="12115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Űrlap pont 3"/>
          <p:cNvSpPr/>
          <p:nvPr/>
        </p:nvSpPr>
        <p:spPr>
          <a:xfrm>
            <a:off x="822960" y="12115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7" name="Űrlap képernyőkép" descr="Űrl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456"/>
            <a:ext cx="3200400" cy="1800225"/>
          </a:xfrm>
          <a:prstGeom prst="rect">
            <a:avLst/>
          </a:prstGeom>
        </p:spPr>
      </p:pic>
      <p:sp>
        <p:nvSpPr>
          <p:cNvPr id="8" name="Űrlap megjegyzés"/>
          <p:cNvSpPr txBox="1"/>
          <p:nvPr/>
        </p:nvSpPr>
        <p:spPr>
          <a:xfrm>
            <a:off x="45720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űrlap nem szerverre küld: a gomb a kitöltött adatokkal megnyitja a levelezőprogramot.</a:t>
            </a:r>
            <a:endParaRPr lang="en-US" sz="1400" dirty="0"/>
          </a:p>
        </p:txBody>
      </p:sp>
      <p:sp>
        <p:nvSpPr>
          <p:cNvPr id="9" name="Űrlap kód panel"/>
          <p:cNvSpPr/>
          <p:nvPr/>
        </p:nvSpPr>
        <p:spPr>
          <a:xfrm>
            <a:off x="3840480" y="1143000"/>
            <a:ext cx="4846320" cy="3154680"/>
          </a:xfrm>
          <a:prstGeom prst="roundRect">
            <a:avLst>
              <a:gd name="adj" fmla="val 3478"/>
            </a:avLst>
          </a:prstGeom>
          <a:solidFill>
            <a:srgbClr val="0B1426"/>
          </a:solidFill>
          <a:ln/>
        </p:spPr>
      </p:sp>
      <p:sp>
        <p:nvSpPr>
          <p:cNvPr id="10" name="Űrlap kód fájlnév"/>
          <p:cNvSpPr txBox="1"/>
          <p:nvPr/>
        </p:nvSpPr>
        <p:spPr>
          <a:xfrm>
            <a:off x="4023360" y="12344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jelentkezes.html</a:t>
            </a:r>
            <a:endParaRPr lang="en-US" sz="1000" dirty="0"/>
          </a:p>
        </p:txBody>
      </p:sp>
      <p:sp>
        <p:nvSpPr>
          <p:cNvPr id="11" name="Űrlap kód kód"/>
          <p:cNvSpPr txBox="1"/>
          <p:nvPr/>
        </p:nvSpPr>
        <p:spPr>
          <a:xfrm>
            <a:off x="4023360" y="1527048"/>
            <a:ext cx="448056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'submit'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 = e.target;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sorok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'Tanuló neve: 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f.tanulo.value,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'E-mail: 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f.email.value,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'Kollégium: 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(f.kollegium.checked ?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'igen'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'nem'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targy =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'Jelentkezés – 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f.tanulo.value;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window.location.href =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'mailto:titkarsag@szbi-pg.hu'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'?subject='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encodeURIComponent(targy)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'&amp;body='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encodeURIComponent(sorok.join(</a:t>
            </a:r>
            <a:pPr indent="0" marL="0">
              <a:buNone/>
            </a:pPr>
            <a:r>
              <a:rPr lang="en-US" sz="1000" dirty="0">
                <a:solidFill>
                  <a:srgbClr val="A8D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'\n'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Összegzés és továbbfejlesztés</a:t>
            </a:r>
            <a:endParaRPr lang="en-US" sz="3000" dirty="0"/>
          </a:p>
        </p:txBody>
      </p:sp>
      <p:sp>
        <p:nvSpPr>
          <p:cNvPr id="3" name="Jól sikerült kártya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Jól sikerült cím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Ami jól sikerült</a:t>
            </a:r>
            <a:endParaRPr lang="en-US" sz="2000" dirty="0"/>
          </a:p>
        </p:txBody>
      </p:sp>
      <p:sp>
        <p:nvSpPr>
          <p:cNvPr id="5" name="Jól sikerült lista"/>
          <p:cNvSpPr txBox="1"/>
          <p:nvPr/>
        </p:nvSpPr>
        <p:spPr>
          <a:xfrm>
            <a:off x="731520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Egységes arculat: színek, fejléc, gombok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Telefonon is használható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Külső függőségek nélkül, könnyen üzemeltethető</a:t>
            </a:r>
            <a:endParaRPr lang="en-US" sz="1600" dirty="0"/>
          </a:p>
        </p:txBody>
      </p:sp>
      <p:sp>
        <p:nvSpPr>
          <p:cNvPr id="6" name="Következő lépések kártya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7" name="Következő lépések cím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Következő lépések</a:t>
            </a:r>
            <a:endParaRPr lang="en-US" sz="2000" dirty="0"/>
          </a:p>
        </p:txBody>
      </p:sp>
      <p:sp>
        <p:nvSpPr>
          <p:cNvPr id="8" name="Következő lépések lista"/>
          <p:cNvSpPr txBox="1"/>
          <p:nvPr/>
        </p:nvSpPr>
        <p:spPr>
          <a:xfrm>
            <a:off x="4937760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fejléc és a lábléc külön fájlba szervezése, hogy ne kelljen oldalanként másolni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galéria egyszerűsítése: figyelés időzítő helyett eseményekkel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Az űrlap szerveroldali feldolgozása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Köszönjük a figyelmet!</a:t>
            </a:r>
            <a:endParaRPr lang="en-US" sz="3600" dirty="0"/>
          </a:p>
        </p:txBody>
      </p:sp>
      <p:sp>
        <p:nvSpPr>
          <p:cNvPr id="3" name="Kérdések"/>
          <p:cNvSpPr txBox="1"/>
          <p:nvPr/>
        </p:nvSpPr>
        <p:spPr>
          <a:xfrm>
            <a:off x="548640" y="2743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Kérdések?</a:t>
            </a:r>
            <a:endParaRPr lang="en-US" sz="2200" dirty="0"/>
          </a:p>
        </p:txBody>
      </p:sp>
      <p:sp>
        <p:nvSpPr>
          <p:cNvPr id="4" name="Oldal címe"/>
          <p:cNvSpPr txBox="1"/>
          <p:nvPr/>
        </p:nvSpPr>
        <p:spPr>
          <a:xfrm>
            <a:off x="54864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Az oldal: kitah-h.github.io/PG-weboldal</a:t>
            </a:r>
            <a:endParaRPr lang="en-US" sz="1400" dirty="0"/>
          </a:p>
        </p:txBody>
      </p:sp>
      <p:sp>
        <p:nvSpPr>
          <p:cNvPr id="5" name="Forráskód címe"/>
          <p:cNvSpPr txBox="1"/>
          <p:nvPr/>
        </p:nvSpPr>
        <p:spPr>
          <a:xfrm>
            <a:off x="5486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Forráskód: github.com/kitah-h/PG-weboldal</a:t>
            </a:r>
            <a:endParaRPr lang="en-US" sz="1400" dirty="0"/>
          </a:p>
        </p:txBody>
      </p:sp>
      <p:sp>
        <p:nvSpPr>
          <p:cNvPr id="6" name="Főoldal keret"/>
          <p:cNvSpPr/>
          <p:nvPr/>
        </p:nvSpPr>
        <p:spPr>
          <a:xfrm>
            <a:off x="4846320" y="1371600"/>
            <a:ext cx="3840480" cy="2175701"/>
          </a:xfrm>
          <a:prstGeom prst="rect">
            <a:avLst/>
          </a:prstGeom>
          <a:solidFill>
            <a:schemeClr val="bg2"/>
          </a:solidFill>
          <a:ln w="9525">
            <a:solidFill>
              <a:srgbClr val="C9D2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Főoldal pont 1"/>
          <p:cNvSpPr/>
          <p:nvPr/>
        </p:nvSpPr>
        <p:spPr>
          <a:xfrm>
            <a:off x="4956048" y="14401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Főoldal pont 2"/>
          <p:cNvSpPr/>
          <p:nvPr/>
        </p:nvSpPr>
        <p:spPr>
          <a:xfrm>
            <a:off x="5084064" y="14401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Főoldal pont 3"/>
          <p:cNvSpPr/>
          <p:nvPr/>
        </p:nvSpPr>
        <p:spPr>
          <a:xfrm>
            <a:off x="5212080" y="14401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0" name="Főoldal képernyőkép" descr="Főol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91056"/>
            <a:ext cx="3840480" cy="19562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zent Benedek PG projekt">
  <a:themeElements>
    <a:clrScheme name="Szent Benedek PG projekt">
      <a:dk1>
        <a:srgbClr val="14213D"/>
      </a:dk1>
      <a:lt1>
        <a:srgbClr val="FFFFFF"/>
      </a:lt1>
      <a:dk2>
        <a:srgbClr val="001A3A"/>
      </a:dk2>
      <a:lt2>
        <a:srgbClr val="EEF2F7"/>
      </a:lt2>
      <a:accent1>
        <a:srgbClr val="C5A059"/>
      </a:accent1>
      <a:accent2>
        <a:srgbClr val="002C5F"/>
      </a:accent2>
      <a:accent3>
        <a:srgbClr val="4A5568"/>
      </a:accent3>
      <a:accent4>
        <a:srgbClr val="DDE3EC"/>
      </a:accent4>
      <a:accent5>
        <a:srgbClr val="7FB7FF"/>
      </a:accent5>
      <a:accent6>
        <a:srgbClr val="A8D08D"/>
      </a:accent6>
      <a:hlink>
        <a:srgbClr val="002C5F"/>
      </a:hlink>
      <a:folHlink>
        <a:srgbClr val="4A5568"/>
      </a:folHlink>
    </a:clrScheme>
    <a:fontScheme name="Szent Benedek PG projek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Szent Benedek PG weboldal – iskolai projekt</dc:title>
  <dc:subject>Projektbemutató</dc:subject>
  <dc:creator>PptxGenJS</dc:creator>
  <cp:lastModifiedBy>PptxGenJS</cp:lastModifiedBy>
  <cp:revision>1</cp:revision>
  <dcterms:created xsi:type="dcterms:W3CDTF">2026-10-18T15:49:34Z</dcterms:created>
  <dcterms:modified xsi:type="dcterms:W3CDTF">2026-10-18T15:49:34Z</dcterms:modified>
</cp:coreProperties>
</file>